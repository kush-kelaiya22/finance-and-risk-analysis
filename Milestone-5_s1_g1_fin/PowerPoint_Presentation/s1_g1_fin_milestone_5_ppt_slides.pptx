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Helvetica Neue"/>
      <p:regular r:id="rId24"/>
      <p:bold r:id="rId25"/>
      <p:italic r:id="rId26"/>
      <p:boldItalic r:id="rId27"/>
    </p:embeddedFont>
    <p:embeddedFont>
      <p:font typeface="Helvetica Neue Ligh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HelveticaNeue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elveticaNeue-italic.fntdata"/><Relationship Id="rId25" Type="http://schemas.openxmlformats.org/officeDocument/2006/relationships/font" Target="fonts/HelveticaNeue-bold.fntdata"/><Relationship Id="rId28" Type="http://schemas.openxmlformats.org/officeDocument/2006/relationships/font" Target="fonts/HelveticaNeueLight-regular.fntdata"/><Relationship Id="rId27" Type="http://schemas.openxmlformats.org/officeDocument/2006/relationships/font" Target="fonts/HelveticaNeue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HelveticaNeueLigh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HelveticaNeueLight-boldItalic.fntdata"/><Relationship Id="rId30" Type="http://schemas.openxmlformats.org/officeDocument/2006/relationships/font" Target="fonts/HelveticaNeueLight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d73350b0c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d73350b0c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cd0402a9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dcd0402a9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d73350b0c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dd73350b0c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dff712ba3_1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dff712ba3_1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ddff712ba3_1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cd0402a96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cd0402a96_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dcd0402a96_5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dff712ba3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dff712ba3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ddff712ba3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cd0402a96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dcd0402a96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6ecc290a8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86ecc290a8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cd0402a96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dcd0402a96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6ecc290a8_2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86ecc290a8_2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cd67d5e0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cd67d5e0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dcd67d5e0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cd67d5e07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cd67d5e07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dcd67d5e07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cd67d5e07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cd67d5e07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dcd67d5e07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cd67d5e07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cd67d5e07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dcd67d5e07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cd0402a96_5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dcd0402a96_5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cd0402a96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dcd0402a96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idx="1" type="body"/>
          </p:nvPr>
        </p:nvSpPr>
        <p:spPr>
          <a:xfrm>
            <a:off x="844150" y="4710224"/>
            <a:ext cx="10515601" cy="552037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848"/>
              </a:buClr>
              <a:buSzPts val="2000"/>
              <a:buFont typeface="Helvetica Neue Light"/>
              <a:buNone/>
              <a:defRPr b="0" i="0" sz="2000">
                <a:solidFill>
                  <a:srgbClr val="44484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42109" l="31991" r="32034" t="42026"/>
          <a:stretch/>
        </p:blipFill>
        <p:spPr>
          <a:xfrm>
            <a:off x="7430948" y="751519"/>
            <a:ext cx="3928803" cy="133323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/>
          <p:nvPr>
            <p:ph idx="2" type="body"/>
          </p:nvPr>
        </p:nvSpPr>
        <p:spPr>
          <a:xfrm>
            <a:off x="844150" y="3784993"/>
            <a:ext cx="10516000" cy="9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Helvetica Neue"/>
              <a:buNone/>
              <a:defRPr b="1" i="0" sz="4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74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5" name="Google Shape;65;p9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2" name="Google Shape;72;p10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7" name="Google Shape;77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4" name="Google Shape;84;p12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844150" y="3249075"/>
            <a:ext cx="10909200" cy="31458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latin typeface="Helvetica Neue"/>
                <a:ea typeface="Helvetica Neue"/>
                <a:cs typeface="Helvetica Neue"/>
                <a:sym typeface="Helvetica Neue"/>
              </a:rPr>
              <a:t>Domain : Finance</a:t>
            </a:r>
            <a:endParaRPr b="1" sz="20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latin typeface="Helvetica Neue"/>
                <a:ea typeface="Helvetica Neue"/>
                <a:cs typeface="Helvetica Neue"/>
                <a:sym typeface="Helvetica Neue"/>
              </a:rPr>
              <a:t>Group: s1_g1_fin</a:t>
            </a:r>
            <a:endParaRPr b="1" sz="20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500"/>
              <a:buFont typeface="Helvetica Neue Light"/>
              <a:buNone/>
            </a:pPr>
            <a:br>
              <a:rPr lang="en-US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Group Members: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500"/>
              <a:buFont typeface="Helvetica Neue Light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Kush Kelaiya			AU2440018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Kesar Thakkar			AU2420041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Ishika Patel				AU2440088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Pranav Jain				AU2420166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Nissarg Danidhariya		AU2440261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5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90" name="Google Shape;90;p13"/>
          <p:cNvSpPr txBox="1"/>
          <p:nvPr>
            <p:ph idx="2" type="body"/>
          </p:nvPr>
        </p:nvSpPr>
        <p:spPr>
          <a:xfrm>
            <a:off x="843950" y="2177526"/>
            <a:ext cx="10515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40"/>
              <a:buFont typeface="Helvetica Neue"/>
              <a:buNone/>
            </a:pPr>
            <a:r>
              <a:rPr lang="en-US" sz="3340"/>
              <a:t>CSE400 Fundamentals of Probability in Computing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831850" y="323550"/>
            <a:ext cx="105156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 sz="5000"/>
              <a:t>Background &amp; Motivation</a:t>
            </a:r>
            <a:endParaRPr sz="5000"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831850" y="1171600"/>
            <a:ext cx="10515600" cy="49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Background</a:t>
            </a:r>
            <a:endParaRPr b="1" sz="3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Stock markets are uncertain and are influenced by multiple unpredictable factors.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Investment decisions involve balancing both risk and return. 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Portfolio theory helps in managing this uncertainty through diversification.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Motivation</a:t>
            </a:r>
            <a:endParaRPr b="1" sz="3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Course Perspective</a:t>
            </a:r>
            <a:endParaRPr b="1" sz="2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Applied concepts of probability like random variables, and uncertainty modeling.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Used statistical measures like mean, variance and covariance. 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Shows how theoretical concepts are used in real world scenarios. 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831850" y="323550"/>
            <a:ext cx="105156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 sz="5000"/>
              <a:t>Background &amp; Motivation</a:t>
            </a:r>
            <a:endParaRPr sz="5000"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831850" y="1171600"/>
            <a:ext cx="10515600" cy="49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Real-World Perspective</a:t>
            </a:r>
            <a:endParaRPr b="1" sz="3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Investors need to make decisions under uncertainty and with risk. 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Poor portfolio allocation migh lead to high losses in investment. 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Optimized portfolios help in achieving better balance between risk and return.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is used widely in areas like finance,asset management, etc.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this problem is important</a:t>
            </a:r>
            <a:endParaRPr b="1" sz="3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helps in making decisions related to investments. 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reduces risk through diversification.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gives a systematic way to handle uncertainty in financial markets especially portfolio optimization.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" name="Google Shape;104;p1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563975" y="200475"/>
            <a:ext cx="105156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2000"/>
              <a:buFont typeface="Helvetica Neue"/>
              <a:buNone/>
            </a:pPr>
            <a:r>
              <a:rPr lang="en-US" sz="5000"/>
              <a:t>Base Paper Overview</a:t>
            </a:r>
            <a:endParaRPr sz="5000"/>
          </a:p>
        </p:txBody>
      </p:sp>
      <p:sp>
        <p:nvSpPr>
          <p:cNvPr id="110" name="Google Shape;110;p1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698275" y="939075"/>
            <a:ext cx="9012600" cy="47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 Paper: Algorithmic Portfolio Optimization</a:t>
            </a:r>
            <a:endParaRPr b="1" sz="3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 Idea</a:t>
            </a:r>
            <a:endParaRPr b="1" sz="2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uses historical stock data and mathematical models to find optimal portfolio allocation.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Minimize Risk and Maximize Returns.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Approach</a:t>
            </a:r>
            <a:endParaRPr b="1" sz="3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converts the stock prices into returns.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Computes the expected returns and covariance matrix. 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generates multiple portfolios with different weights. 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evaluates using facors like return, risk and sharpe ratio.</a:t>
            </a:r>
            <a:endParaRPr sz="2000">
              <a:solidFill>
                <a:srgbClr val="88888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888888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831850" y="200475"/>
            <a:ext cx="105156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2000"/>
              <a:buFont typeface="Helvetica Neue"/>
              <a:buNone/>
            </a:pPr>
            <a:r>
              <a:rPr lang="en-US" sz="5000"/>
              <a:t>Base Paper Overview</a:t>
            </a:r>
            <a:endParaRPr sz="5000"/>
          </a:p>
        </p:txBody>
      </p:sp>
      <p:sp>
        <p:nvSpPr>
          <p:cNvPr id="117" name="Google Shape;117;p1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698275" y="1143000"/>
            <a:ext cx="9012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Contribution of the Paper</a:t>
            </a:r>
            <a:endParaRPr b="1" sz="3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demonstrates the practical implementation of Modern Portfolio Theory.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uses simulation and optimization techniques.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helps in identifying efficient frontier and optimal portfolio with best risk-return tradeoff.</a:t>
            </a:r>
            <a:endParaRPr sz="2000">
              <a:solidFill>
                <a:srgbClr val="888888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582428" y="-277575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</a:rPr>
              <a:t> Problem Formulation</a:t>
            </a:r>
            <a:endParaRPr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582425" y="1191438"/>
            <a:ext cx="10515600" cy="492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27">
                <a:latin typeface="Arial"/>
                <a:ea typeface="Arial"/>
                <a:cs typeface="Arial"/>
                <a:sym typeface="Arial"/>
              </a:rPr>
              <a:t>🔹 Problem Statement</a:t>
            </a:r>
            <a:endParaRPr b="1" sz="2427">
              <a:latin typeface="Arial"/>
              <a:ea typeface="Arial"/>
              <a:cs typeface="Arial"/>
              <a:sym typeface="Arial"/>
            </a:endParaRPr>
          </a:p>
          <a:p>
            <a:pPr indent="-34463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27"/>
              <a:buFont typeface="Arial"/>
              <a:buChar char="●"/>
            </a:pPr>
            <a:r>
              <a:rPr lang="en-US" sz="1827">
                <a:latin typeface="Arial"/>
                <a:ea typeface="Arial"/>
                <a:cs typeface="Arial"/>
                <a:sym typeface="Arial"/>
              </a:rPr>
              <a:t>Allocate capital across nnn assets with </a:t>
            </a:r>
            <a:r>
              <a:rPr b="1" lang="en-US" sz="1827">
                <a:latin typeface="Arial"/>
                <a:ea typeface="Arial"/>
                <a:cs typeface="Arial"/>
                <a:sym typeface="Arial"/>
              </a:rPr>
              <a:t>uncertain (random) returns</a:t>
            </a:r>
            <a:endParaRPr b="1" sz="1827">
              <a:latin typeface="Arial"/>
              <a:ea typeface="Arial"/>
              <a:cs typeface="Arial"/>
              <a:sym typeface="Arial"/>
            </a:endParaRPr>
          </a:p>
          <a:p>
            <a:pPr indent="-3446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27"/>
              <a:buFont typeface="Arial"/>
              <a:buChar char="●"/>
            </a:pPr>
            <a:r>
              <a:rPr lang="en-US" sz="1827">
                <a:latin typeface="Arial"/>
                <a:ea typeface="Arial"/>
                <a:cs typeface="Arial"/>
                <a:sym typeface="Arial"/>
              </a:rPr>
              <a:t>Goal: design a portfolio that performs well under uncertainty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🔹 Objective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Maximize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expected return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Minimize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risk (variability in returns)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Achieve an optimal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risk–return tradeoff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🔹 Key Challenge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Returns are unpredictable and correlated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Higher returns typically come with higher risk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Poor diversification can increase overall risk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🔹 Key Insight 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Portfolio performance depends not just on individual assets, but also on their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interdependence (correlation/diversification)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838200" y="-309281"/>
            <a:ext cx="105156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Mathematical Modelling </a:t>
            </a:r>
            <a:endParaRPr/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838200" y="987600"/>
            <a:ext cx="4947600" cy="393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-US" sz="228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🔹</a:t>
            </a:r>
            <a:r>
              <a:rPr b="1" lang="en-US" sz="328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-US" sz="228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Core Idea</a:t>
            </a:r>
            <a:endParaRPr b="1" sz="228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814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●"/>
            </a:pPr>
            <a:r>
              <a:rPr lang="en-US" sz="20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Stock returns are random variables</a:t>
            </a:r>
            <a:endParaRPr sz="20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814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●"/>
            </a:pPr>
            <a:r>
              <a:rPr lang="en-US" sz="20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uncertainty using probability distributions</a:t>
            </a:r>
            <a:endParaRPr sz="20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814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●"/>
            </a:pPr>
            <a:r>
              <a:rPr lang="en-US" sz="20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Analyze risk–return tradeoff</a:t>
            </a:r>
            <a:endParaRPr sz="20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SzPts val="440"/>
              <a:buNone/>
            </a:pPr>
            <a:r>
              <a:rPr b="1" lang="en-US" sz="228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🔹 </a:t>
            </a:r>
            <a:r>
              <a:rPr b="1" lang="en-US" sz="228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Components</a:t>
            </a:r>
            <a:endParaRPr b="1" sz="228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Ri​: Return of asset i(random variable)</a:t>
            </a:r>
            <a:endParaRPr sz="20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μi=E[Ri]:Expected return</a:t>
            </a:r>
            <a:endParaRPr sz="20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Σ: Covariance matrix</a:t>
            </a:r>
            <a:endParaRPr sz="20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wi​: Weight of asset i</a:t>
            </a:r>
            <a:endParaRPr sz="20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20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Rp​: Portfolio return </a:t>
            </a:r>
            <a:endParaRPr sz="20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0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p1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35" name="Google Shape;135;p19"/>
          <p:cNvSpPr txBox="1"/>
          <p:nvPr/>
        </p:nvSpPr>
        <p:spPr>
          <a:xfrm>
            <a:off x="5814300" y="1644900"/>
            <a:ext cx="5539500" cy="22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28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🔹 Mathematical Model</a:t>
            </a:r>
            <a:endParaRPr b="1" sz="228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Portfolio Return:Rp=w^T* R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ExpectedReturn:E[Rp]=w^T*μ=∑wiμi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Portfolio Risk (Variance):σp^2 = w^T Σw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ExpandedVariance:σp^2=∑wi^2*σi^2+∑i≠jwiwjCov(Ri,Rj)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🔹</a:t>
            </a:r>
            <a:r>
              <a:rPr b="1" lang="en-US" sz="2000">
                <a:solidFill>
                  <a:schemeClr val="dk1"/>
                </a:solidFill>
              </a:rPr>
              <a:t> Optimization Formulation</a:t>
            </a:r>
            <a:endParaRPr b="1" sz="20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-US" sz="1700">
                <a:solidFill>
                  <a:schemeClr val="dk1"/>
                </a:solidFill>
              </a:rPr>
              <a:t>min⁡w  wTΣw s.t.w^T*μ=R∗,∑wi​=1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🔹 Assumptions</a:t>
            </a:r>
            <a:endParaRPr b="1" sz="19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R∼N(μ,Σ)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Parameters from historical data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Fixed weights (deterministic baseline)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838200" y="224516"/>
            <a:ext cx="10515600" cy="78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Bounds Used in the Problem</a:t>
            </a:r>
            <a:endParaRPr sz="5000"/>
          </a:p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838200" y="1242375"/>
            <a:ext cx="3874200" cy="526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248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-US" sz="248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Portfolio Constraints</a:t>
            </a:r>
            <a:endParaRPr b="1" sz="248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084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Char char="●"/>
            </a:pPr>
            <a:r>
              <a:rPr lang="en-US" sz="22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Budget Constraint:</a:t>
            </a:r>
            <a:br>
              <a:rPr lang="en-US" sz="22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2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Sum of weights = 1</a:t>
            </a:r>
            <a:endParaRPr sz="22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084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Char char="●"/>
            </a:pPr>
            <a:r>
              <a:rPr lang="en-US" sz="22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Non-negativity Constraint:</a:t>
            </a:r>
            <a:br>
              <a:rPr lang="en-US" sz="22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2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No short-selling ( wi≥0w_i \ge 0wi​≥0 )</a:t>
            </a:r>
            <a:endParaRPr sz="22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084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Char char="●"/>
            </a:pPr>
            <a:r>
              <a:rPr lang="en-US" sz="22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Upper Bound on Weights:</a:t>
            </a:r>
            <a:br>
              <a:rPr lang="en-US" sz="22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2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wi≤1w_i \le 1wi​≤1 (no over-allocation to one asset)</a:t>
            </a:r>
            <a:endParaRPr sz="22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2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44" name="Google Shape;144;p20"/>
          <p:cNvSpPr txBox="1"/>
          <p:nvPr>
            <p:ph idx="1" type="body"/>
          </p:nvPr>
        </p:nvSpPr>
        <p:spPr>
          <a:xfrm>
            <a:off x="8586600" y="1116425"/>
            <a:ext cx="3441600" cy="353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58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Impact on the Model</a:t>
            </a:r>
            <a:endParaRPr b="1" sz="258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719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40"/>
              <a:buFont typeface="Arial"/>
              <a:buChar char="●"/>
            </a:pPr>
            <a:r>
              <a:rPr lang="en-US" sz="23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Defines the feasible region of portfolios</a:t>
            </a:r>
            <a:endParaRPr sz="23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71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0"/>
              <a:buFont typeface="Arial"/>
              <a:buChar char="●"/>
            </a:pPr>
            <a:r>
              <a:rPr lang="en-US" sz="23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Guides optimization towards practical solutions</a:t>
            </a:r>
            <a:endParaRPr sz="23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71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0"/>
              <a:buFont typeface="Arial"/>
              <a:buChar char="●"/>
            </a:pPr>
            <a:r>
              <a:rPr lang="en-US" sz="23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Ensures stable and interpretable results</a:t>
            </a:r>
            <a:endParaRPr sz="23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23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27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27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2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4712400" y="1116425"/>
            <a:ext cx="3874200" cy="411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SzPts val="440"/>
              <a:buNone/>
            </a:pPr>
            <a:r>
              <a:rPr b="1" lang="en-US" sz="218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These Bounds Are Necessary</a:t>
            </a:r>
            <a:endParaRPr b="1" sz="218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179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40"/>
              <a:buFont typeface="Arial"/>
              <a:buChar char="●"/>
            </a:pPr>
            <a:r>
              <a:rPr lang="en-US" sz="19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Capital Allocation Reality</a:t>
            </a:r>
            <a:br>
              <a:rPr lang="en-US" sz="19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9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Total investment must be fully distributed</a:t>
            </a:r>
            <a:endParaRPr sz="19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17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40"/>
              <a:buFont typeface="Arial"/>
              <a:buChar char="●"/>
            </a:pPr>
            <a:r>
              <a:rPr lang="en-US" sz="19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Risk Control</a:t>
            </a:r>
            <a:br>
              <a:rPr lang="en-US" sz="19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9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Prevents extreme exposure to a single asset</a:t>
            </a:r>
            <a:endParaRPr sz="19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17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40"/>
              <a:buFont typeface="Arial"/>
              <a:buChar char="●"/>
            </a:pPr>
            <a:r>
              <a:rPr lang="en-US" sz="19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Realistic Investment Strategy</a:t>
            </a:r>
            <a:br>
              <a:rPr lang="en-US" sz="19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9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Avoids unrealistic scenarios like infinite leverage</a:t>
            </a:r>
            <a:endParaRPr sz="19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17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40"/>
              <a:buFont typeface="Arial"/>
              <a:buChar char="●"/>
            </a:pPr>
            <a:r>
              <a:rPr lang="en-US" sz="19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Feasible Portfolio Space</a:t>
            </a:r>
            <a:br>
              <a:rPr lang="en-US" sz="19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94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Ensures solutions are valid and implementable</a:t>
            </a:r>
            <a:endParaRPr sz="19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94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title"/>
          </p:nvPr>
        </p:nvSpPr>
        <p:spPr>
          <a:xfrm>
            <a:off x="831850" y="422799"/>
            <a:ext cx="10515600" cy="91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 sz="5000"/>
              <a:t>Deterministic Approach</a:t>
            </a:r>
            <a:endParaRPr sz="5000"/>
          </a:p>
        </p:txBody>
      </p:sp>
      <p:sp>
        <p:nvSpPr>
          <p:cNvPr id="151" name="Google Shape;151;p21"/>
          <p:cNvSpPr txBox="1"/>
          <p:nvPr>
            <p:ph idx="1" type="body"/>
          </p:nvPr>
        </p:nvSpPr>
        <p:spPr>
          <a:xfrm>
            <a:off x="635400" y="1653938"/>
            <a:ext cx="10515600" cy="4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Method: Mean–Variance Optimization (MVO)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Mathematical Foundation: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Uses traditional calculus-based optimization (Quadratic Programming) to find the "Efficient Frontier."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Inputs: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Requires estimated Expected Returns (μ) and a Covariance Matrix (Σ).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Maximize the </a:t>
            </a: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Sharpe Ratio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(Risk-adjusted return).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Constraints: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 No short-selling: w_i </a:t>
            </a:r>
            <a:r>
              <a:rPr lang="en-US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≥ 0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 investment: Σ w_i = 1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b="1"/>
          </a:p>
        </p:txBody>
      </p:sp>
      <p:sp>
        <p:nvSpPr>
          <p:cNvPr id="152" name="Google Shape;152;p2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831850" y="422799"/>
            <a:ext cx="10515600" cy="91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 sz="5000"/>
              <a:t>Deterministic Approach</a:t>
            </a:r>
            <a:endParaRPr sz="5000"/>
          </a:p>
        </p:txBody>
      </p:sp>
      <p:sp>
        <p:nvSpPr>
          <p:cNvPr id="158" name="Google Shape;158;p22"/>
          <p:cNvSpPr txBox="1"/>
          <p:nvPr>
            <p:ph idx="1" type="body"/>
          </p:nvPr>
        </p:nvSpPr>
        <p:spPr>
          <a:xfrm>
            <a:off x="719450" y="1453000"/>
            <a:ext cx="10515600" cy="52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Process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Estimation: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Calculate historical or projected μ and Σ.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Calculation: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Uses solvers like </a:t>
            </a:r>
            <a:r>
              <a:rPr lang="en-US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scipy.optimize.minimize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follow the steepest gradient toward the solution.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Generates a single, mathematically "perfect" portfolio based on the provided inputs.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Limitations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Lack of Exploration: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Moves in a fixed path; if the "search landscape" is complex, it can get stuck in a local optimum.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Sensitivity: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Small changes in input data can lead to massive swings in the "optimal" weights (the "Markowitz Optimization").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831850" y="422799"/>
            <a:ext cx="10515600" cy="91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 sz="5000"/>
              <a:t>Randomized Approach </a:t>
            </a:r>
            <a:endParaRPr sz="5000"/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719450" y="1453000"/>
            <a:ext cx="10515600" cy="52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Method: Particle Swarm Optimization (PSO)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Model: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Mimics the </a:t>
            </a: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social behavior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a flock of birds. Each "Particle" represents a potential set of portfolio weights searching for the best "feeding ground" (highest Sharpe Ratio).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Optimization Goal: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Maximize Sharpe Ratio through collective intelligence.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Use Randomization?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Global Search: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Unlike the deterministic approach, PSO scatters "particles" across the entire search space simultaneously.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Avoids Local Optima: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Random "velocity" updates allow particles to "jump" out of low-performance areas that might trap a deterministic solver.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Robustness: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Performs better when the objective function is "noisy" or non-convex.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type="title"/>
          </p:nvPr>
        </p:nvSpPr>
        <p:spPr>
          <a:xfrm>
            <a:off x="831850" y="422799"/>
            <a:ext cx="10515600" cy="91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 sz="5000"/>
              <a:t>Randomized Approach </a:t>
            </a:r>
            <a:endParaRPr sz="5000"/>
          </a:p>
        </p:txBody>
      </p:sp>
      <p:sp>
        <p:nvSpPr>
          <p:cNvPr id="172" name="Google Shape;172;p24"/>
          <p:cNvSpPr txBox="1"/>
          <p:nvPr>
            <p:ph idx="1" type="body"/>
          </p:nvPr>
        </p:nvSpPr>
        <p:spPr>
          <a:xfrm>
            <a:off x="719450" y="1453000"/>
            <a:ext cx="10515600" cy="52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Stochastic (Randomized) Process</a:t>
            </a:r>
            <a:endParaRPr b="1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1"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Initialization:</a:t>
            </a: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Uses a </a:t>
            </a:r>
            <a:r>
              <a:rPr b="1"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Dirichlet Distribution</a:t>
            </a: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create random starting portfolios that automatically satisfy constraints (w_i </a:t>
            </a:r>
            <a:r>
              <a:rPr lang="en-US" sz="17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≥ 0</a:t>
            </a: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sum to 1).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1"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Evaluation:</a:t>
            </a: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Each particle calculates its "fitness" (Sharpe Ratio).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1"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Update Rule:</a:t>
            </a: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Particles move toward a mix of: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Their own personal best (</a:t>
            </a:r>
            <a:r>
              <a:rPr b="1"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pBest</a:t>
            </a: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swarm's global best (</a:t>
            </a:r>
            <a:r>
              <a:rPr b="1"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gBest</a:t>
            </a: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1"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Injected Randomness:</a:t>
            </a: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Random weightings (r_1, r_2) ensure the swarm doesn't converge too quickly on a mediocre solution.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Randomness Improves Results</a:t>
            </a:r>
            <a:endParaRPr b="1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Diversified Sampling:</a:t>
            </a: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starting from multiple random points, we explore thousands of portfolio combinations that a deterministic model would never see.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Adaptation:</a:t>
            </a: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random component allows the model to "explore" (try new areas) while "exploiting" (honing in on the best known area), leading to a more reliable global maximum.</a:t>
            </a:r>
            <a:endParaRPr b="1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594300" y="266700"/>
            <a:ext cx="10515600" cy="888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Coding</a:t>
            </a:r>
            <a:r>
              <a:rPr lang="en-US">
                <a:solidFill>
                  <a:schemeClr val="dk2"/>
                </a:solidFill>
              </a:rPr>
              <a:t> and Simulation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582425" y="1155000"/>
            <a:ext cx="10515600" cy="496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Helvetica Neue"/>
              <a:buChar char="•"/>
            </a:pP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Deterministic Approach: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Collect historical data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Compute mean vector and covariance matrix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Assign equal weights initially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Compute optimal </a:t>
            </a:r>
            <a:r>
              <a:rPr lang="en-US"/>
              <a:t>weights</a:t>
            </a:r>
            <a:r>
              <a:rPr lang="en-US"/>
              <a:t> using </a:t>
            </a:r>
            <a:r>
              <a:rPr lang="en-US"/>
              <a:t>builtin functions (scipy.optimize.minimize)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Compare with a randomly generated sample set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Char char="•"/>
            </a:pP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Randomized Approach: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Collect historical data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Compute mean vector and covariance matrix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Generate n(5000) random portfolios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Use k(40) particles by selecting k random portfolios from sample space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Compute the returns, risk and sharpe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Do i(5000) iterations to achieve the optimal weights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Select particle with best weight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Repeat for s(20) simulations to select overall best</a:t>
            </a:r>
            <a:endParaRPr/>
          </a:p>
        </p:txBody>
      </p:sp>
      <p:sp>
        <p:nvSpPr>
          <p:cNvPr id="181" name="Google Shape;181;p2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594300" y="266700"/>
            <a:ext cx="10515600" cy="888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Results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582425" y="1155000"/>
            <a:ext cx="10515600" cy="496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Relative performance from deterministic</a:t>
            </a:r>
            <a:br>
              <a:rPr lang="en-US"/>
            </a:br>
            <a:r>
              <a:rPr lang="en-US"/>
              <a:t>baseline</a:t>
            </a:r>
            <a:r>
              <a:rPr lang="en-US"/>
              <a:t> varies across runs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Sharpe ratio is almost constant</a:t>
            </a:r>
            <a:endParaRPr/>
          </a:p>
        </p:txBody>
      </p:sp>
      <p:sp>
        <p:nvSpPr>
          <p:cNvPr id="189" name="Google Shape;189;p2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pic>
        <p:nvPicPr>
          <p:cNvPr id="190" name="Google Shape;19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8788" y="2833975"/>
            <a:ext cx="6646626" cy="329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/>
          <p:nvPr>
            <p:ph type="title"/>
          </p:nvPr>
        </p:nvSpPr>
        <p:spPr>
          <a:xfrm>
            <a:off x="594300" y="266700"/>
            <a:ext cx="10515600" cy="888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Results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97" name="Google Shape;197;p27"/>
          <p:cNvSpPr txBox="1"/>
          <p:nvPr>
            <p:ph idx="1" type="body"/>
          </p:nvPr>
        </p:nvSpPr>
        <p:spPr>
          <a:xfrm>
            <a:off x="582425" y="1155000"/>
            <a:ext cx="10515600" cy="496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Almost similar returns and risks between randomized and deterministic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Difference between runs is minimal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Randomized gives us better returns, at higher risk</a:t>
            </a:r>
            <a:endParaRPr/>
          </a:p>
        </p:txBody>
      </p:sp>
      <p:sp>
        <p:nvSpPr>
          <p:cNvPr id="198" name="Google Shape;198;p2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pic>
        <p:nvPicPr>
          <p:cNvPr id="199" name="Google Shape;19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00" y="2492025"/>
            <a:ext cx="4549199" cy="339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0600" y="2492024"/>
            <a:ext cx="4549199" cy="3397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594300" y="266700"/>
            <a:ext cx="10515600" cy="888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Results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7" name="Google Shape;207;p28"/>
          <p:cNvSpPr txBox="1"/>
          <p:nvPr>
            <p:ph idx="1" type="body"/>
          </p:nvPr>
        </p:nvSpPr>
        <p:spPr>
          <a:xfrm>
            <a:off x="582425" y="1155000"/>
            <a:ext cx="10515600" cy="496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Weight allocation is almost same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Results in similar </a:t>
            </a:r>
            <a:r>
              <a:rPr lang="en-US"/>
              <a:t>performance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Randomized explores more, gives better approach to</a:t>
            </a:r>
            <a:br>
              <a:rPr lang="en-US"/>
            </a:br>
            <a:r>
              <a:rPr lang="en-US"/>
              <a:t>assigning weights</a:t>
            </a:r>
            <a:endParaRPr/>
          </a:p>
        </p:txBody>
      </p:sp>
      <p:sp>
        <p:nvSpPr>
          <p:cNvPr id="208" name="Google Shape;208;p2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pic>
        <p:nvPicPr>
          <p:cNvPr id="209" name="Google Shape;20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7550" y="2721751"/>
            <a:ext cx="5696900" cy="339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838200" y="125599"/>
            <a:ext cx="10515600" cy="91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/>
              <a:t>Inference – Domain Perspective</a:t>
            </a:r>
            <a:endParaRPr/>
          </a:p>
        </p:txBody>
      </p:sp>
      <p:sp>
        <p:nvSpPr>
          <p:cNvPr id="215" name="Google Shape;215;p29"/>
          <p:cNvSpPr txBox="1"/>
          <p:nvPr>
            <p:ph idx="1" type="body"/>
          </p:nvPr>
        </p:nvSpPr>
        <p:spPr>
          <a:xfrm>
            <a:off x="838200" y="1496250"/>
            <a:ext cx="5132100" cy="52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Financial Insights</a:t>
            </a:r>
            <a:endParaRPr b="1" sz="2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Stock markets are inherently uncertain and stochastic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Returns cannot be predicted exactly — only probabilistically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Risk–Return Understanding</a:t>
            </a:r>
            <a:endParaRPr b="1" sz="2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Higher expected return comes with higher risk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Portfolio performance depends on both mean and variance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" name="Google Shape;217;p29"/>
          <p:cNvSpPr txBox="1"/>
          <p:nvPr/>
        </p:nvSpPr>
        <p:spPr>
          <a:xfrm>
            <a:off x="6061014" y="1479457"/>
            <a:ext cx="5589600" cy="5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Role of Diversification</a:t>
            </a:r>
            <a:endParaRPr b="1" sz="2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Combining assets reduces risk through covariance effects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Low/negative correlation → risk reduction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 correlation → risk amplification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Decision-Making Insight</a:t>
            </a:r>
            <a:endParaRPr b="1" sz="2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Deterministic models give single estimate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Probabilistic models provide range of possible outcomes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Enables better risk-aware investment decisions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type="title"/>
          </p:nvPr>
        </p:nvSpPr>
        <p:spPr>
          <a:xfrm>
            <a:off x="651400" y="-318975"/>
            <a:ext cx="11137500" cy="13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/>
              <a:t>Inference – Computer Science Perspective</a:t>
            </a:r>
            <a:endParaRPr/>
          </a:p>
        </p:txBody>
      </p:sp>
      <p:sp>
        <p:nvSpPr>
          <p:cNvPr id="223" name="Google Shape;223;p30"/>
          <p:cNvSpPr txBox="1"/>
          <p:nvPr>
            <p:ph idx="1" type="body"/>
          </p:nvPr>
        </p:nvSpPr>
        <p:spPr>
          <a:xfrm>
            <a:off x="651400" y="1238400"/>
            <a:ext cx="5583300" cy="4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System Modeling</a:t>
            </a:r>
            <a:b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Stochastic input, deterministic transformation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Search Space</a:t>
            </a:r>
            <a:b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Continuous, high-dimensional weight space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Algorithm Behavior</a:t>
            </a:r>
            <a:b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Deterministic → converges to single optimum</a:t>
            </a:r>
            <a:b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PSO → explores multiple candidate solutions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" name="Google Shape;224;p3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p30"/>
          <p:cNvSpPr txBox="1"/>
          <p:nvPr>
            <p:ph idx="1" type="body"/>
          </p:nvPr>
        </p:nvSpPr>
        <p:spPr>
          <a:xfrm>
            <a:off x="6234700" y="1238388"/>
            <a:ext cx="5583300" cy="4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Optimization Dynamics</a:t>
            </a:r>
            <a:b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Local optimum vs global exploration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Key Observation</a:t>
            </a:r>
            <a:b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Randomization improves coverage of solution space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/>
          <p:nvPr>
            <p:ph type="title"/>
          </p:nvPr>
        </p:nvSpPr>
        <p:spPr>
          <a:xfrm>
            <a:off x="582425" y="115900"/>
            <a:ext cx="67731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 sz="3600">
                <a:solidFill>
                  <a:schemeClr val="dk2"/>
                </a:solidFill>
              </a:rPr>
              <a:t>Conclusion</a:t>
            </a:r>
            <a:endParaRPr sz="3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231" name="Google Shape;231;p31"/>
          <p:cNvSpPr txBox="1"/>
          <p:nvPr>
            <p:ph idx="1" type="body"/>
          </p:nvPr>
        </p:nvSpPr>
        <p:spPr>
          <a:xfrm>
            <a:off x="700775" y="1007101"/>
            <a:ext cx="10515600" cy="48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latin typeface="Helvetica Neue"/>
                <a:ea typeface="Helvetica Neue"/>
                <a:cs typeface="Helvetica Neue"/>
                <a:sym typeface="Helvetica Neue"/>
              </a:rPr>
              <a:t>Problem</a:t>
            </a:r>
            <a:endParaRPr b="1"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Helvetica Neue"/>
                <a:ea typeface="Helvetica Neue"/>
                <a:cs typeface="Helvetica Neue"/>
                <a:sym typeface="Helvetica Neue"/>
              </a:rPr>
              <a:t>Portfolio optimization under uncertain market conditions</a:t>
            </a:r>
            <a:endParaRPr sz="17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latin typeface="Helvetica Neue"/>
                <a:ea typeface="Helvetica Neue"/>
                <a:cs typeface="Helvetica Neue"/>
                <a:sym typeface="Helvetica Neue"/>
              </a:rPr>
              <a:t>Approach</a:t>
            </a:r>
            <a:endParaRPr b="1"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Helvetica Neue"/>
                <a:ea typeface="Helvetica Neue"/>
                <a:cs typeface="Helvetica Neue"/>
                <a:sym typeface="Helvetica Neue"/>
              </a:rPr>
              <a:t>Modeled returns using probability &amp; covariance structure</a:t>
            </a:r>
            <a:endParaRPr sz="17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Helvetica Neue"/>
                <a:ea typeface="Helvetica Neue"/>
                <a:cs typeface="Helvetica Neue"/>
                <a:sym typeface="Helvetica Neue"/>
              </a:rPr>
              <a:t>Compared deterministic baseline with probabilistic simulation</a:t>
            </a:r>
            <a:endParaRPr sz="17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latin typeface="Helvetica Neue"/>
                <a:ea typeface="Helvetica Neue"/>
                <a:cs typeface="Helvetica Neue"/>
                <a:sym typeface="Helvetica Neue"/>
              </a:rPr>
              <a:t>Key Outcome</a:t>
            </a:r>
            <a:endParaRPr b="1"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Helvetica Neue"/>
                <a:ea typeface="Helvetica Neue"/>
                <a:cs typeface="Helvetica Neue"/>
                <a:sym typeface="Helvetica Neue"/>
              </a:rPr>
              <a:t>Generated a distribution of portfolio outcomes</a:t>
            </a:r>
            <a:endParaRPr sz="17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Helvetica Neue"/>
                <a:ea typeface="Helvetica Neue"/>
                <a:cs typeface="Helvetica Neue"/>
                <a:sym typeface="Helvetica Neue"/>
              </a:rPr>
              <a:t>Identified portfolios with better risk–return balance</a:t>
            </a:r>
            <a:endParaRPr sz="17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latin typeface="Helvetica Neue"/>
                <a:ea typeface="Helvetica Neue"/>
                <a:cs typeface="Helvetica Neue"/>
                <a:sym typeface="Helvetica Neue"/>
              </a:rPr>
              <a:t>Key Insight</a:t>
            </a:r>
            <a:endParaRPr b="1"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Helvetica Neue"/>
                <a:ea typeface="Helvetica Neue"/>
                <a:cs typeface="Helvetica Neue"/>
                <a:sym typeface="Helvetica Neue"/>
              </a:rPr>
              <a:t>Diversification reduces risk through asset dependency</a:t>
            </a:r>
            <a:endParaRPr sz="17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Helvetica Neue"/>
                <a:ea typeface="Helvetica Neue"/>
                <a:cs typeface="Helvetica Neue"/>
                <a:sym typeface="Helvetica Neue"/>
              </a:rPr>
              <a:t>Single estimates are insufficient — uncertainty must be modeled</a:t>
            </a:r>
            <a:endParaRPr sz="17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